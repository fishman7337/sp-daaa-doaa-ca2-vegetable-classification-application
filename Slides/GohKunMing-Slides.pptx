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Inter" panose="020B0604020202020204" charset="0"/>
      <p:regular r:id="rId27"/>
    </p:embeddedFont>
    <p:embeddedFont>
      <p:font typeface="Inter Bold" panose="020B0604020202020204" charset="0"/>
      <p:regular r:id="rId28"/>
    </p:embeddedFont>
    <p:embeddedFont>
      <p:font typeface="Inter Bold Italics" panose="020B0604020202020204" charset="0"/>
      <p:regular r:id="rId29"/>
    </p:embeddedFont>
    <p:embeddedFont>
      <p:font typeface="Inter Italic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lab.com/5691-st1516-devops/ca2-daaa2b02-p2415691-gohkunming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lab.com/5691-st1516-devops/ca2-daaa2b02-p2415691-gohkunming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ca2-daaa2b02-p2415691-gohkunming.onrender.com/v1/models/vegnet-10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2-daaa2b02-p2415691-gohkunming.onrender.com/v1/models/vegnet-23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hyperlink" Target="https://ca2-daaa2b02-p2415691-gohkunming-1.onrender.com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a2-daaa2b02-p2415691-gohkunming-1.onrender.com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hyperlink" Target="https://ca2-daaa2b02-p2415691-gohkunming-1.onrender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a2-daaa2b02-p2415691-gohkunming-1.onrender.com" TargetMode="Externa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2-daaa2b02-p2415691-gohkunming-1.onrender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2-daaa2b02-p2415691-gohkunming-1.onrender.com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hyperlink" Target="https://ca2-daaa2b02-p2415691-gohkunming-1.onrender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hyperlink" Target="https://ca2-daaa2b02-p2415691-gohkunming-1.onrender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2-daaa2b02-p2415691-gohkunming-1.onrender.com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2-daaa2b02-p2415691-gohkunming-1.onrender.co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a2-daaa2b02-p2415691-gohkunming-1.onrender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a2-daaa2b02-p2415691-gohkunming-1.onrender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lab.com/5691-st1516-devops/ca2-daaa2b02-p2415691-gohkunmin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hyperlink" Target="https://ca2-daaa2b02-p2415691-gohkunming-1.onrender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lab.com/5691-st1516-devops/ca2-daaa2b02-p2415691-gohkunming" TargetMode="External"/><Relationship Id="rId5" Type="http://schemas.openxmlformats.org/officeDocument/2006/relationships/image" Target="../media/image49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0.jpe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5691-st1516-devops/ca2-daaa2b02-p2415691-gohkunm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2-daaa2b02-p2415691-gohkunming.onrender.com/v1/models/vegnet-101" TargetMode="External"/><Relationship Id="rId5" Type="http://schemas.openxmlformats.org/officeDocument/2006/relationships/hyperlink" Target="https://ca2-daaa2b02-p2415691-gohkunming.onrender.com/v1/models/vegnet-23" TargetMode="External"/><Relationship Id="rId4" Type="http://schemas.openxmlformats.org/officeDocument/2006/relationships/hyperlink" Target="https://ca2-daaa2b02-p2415691-gohkunming-1.onrender.com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86" t="-16746" r="-27450" b="-42589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3875617" cy="10287000"/>
            <a:chOff x="0" y="0"/>
            <a:chExt cx="365448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4484" cy="2709333"/>
            </a:xfrm>
            <a:custGeom>
              <a:avLst/>
              <a:gdLst/>
              <a:ahLst/>
              <a:cxnLst/>
              <a:rect l="l" t="t" r="r" b="b"/>
              <a:pathLst>
                <a:path w="3654484" h="2709333">
                  <a:moveTo>
                    <a:pt x="0" y="0"/>
                  </a:moveTo>
                  <a:lnTo>
                    <a:pt x="3654484" y="0"/>
                  </a:lnTo>
                  <a:lnTo>
                    <a:pt x="365448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50D20">
                    <a:alpha val="100000"/>
                  </a:srgbClr>
                </a:gs>
                <a:gs pos="50000">
                  <a:srgbClr val="050D20">
                    <a:alpha val="95000"/>
                  </a:srgbClr>
                </a:gs>
                <a:gs pos="100000">
                  <a:srgbClr val="050D20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6544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6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6638" y="2961121"/>
            <a:ext cx="5251171" cy="1736075"/>
            <a:chOff x="0" y="0"/>
            <a:chExt cx="1053461" cy="3482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3461" cy="348282"/>
            </a:xfrm>
            <a:custGeom>
              <a:avLst/>
              <a:gdLst/>
              <a:ahLst/>
              <a:cxnLst/>
              <a:rect l="l" t="t" r="r" b="b"/>
              <a:pathLst>
                <a:path w="1053461" h="348282">
                  <a:moveTo>
                    <a:pt x="35384" y="0"/>
                  </a:moveTo>
                  <a:lnTo>
                    <a:pt x="1018077" y="0"/>
                  </a:lnTo>
                  <a:cubicBezTo>
                    <a:pt x="1037619" y="0"/>
                    <a:pt x="1053461" y="15842"/>
                    <a:pt x="1053461" y="35384"/>
                  </a:cubicBezTo>
                  <a:lnTo>
                    <a:pt x="1053461" y="312898"/>
                  </a:lnTo>
                  <a:cubicBezTo>
                    <a:pt x="1053461" y="332440"/>
                    <a:pt x="1037619" y="348282"/>
                    <a:pt x="1018077" y="348282"/>
                  </a:cubicBezTo>
                  <a:lnTo>
                    <a:pt x="35384" y="348282"/>
                  </a:lnTo>
                  <a:cubicBezTo>
                    <a:pt x="25999" y="348282"/>
                    <a:pt x="16999" y="344554"/>
                    <a:pt x="10364" y="337918"/>
                  </a:cubicBezTo>
                  <a:cubicBezTo>
                    <a:pt x="3728" y="331282"/>
                    <a:pt x="0" y="322282"/>
                    <a:pt x="0" y="312898"/>
                  </a:cubicBezTo>
                  <a:lnTo>
                    <a:pt x="0" y="35384"/>
                  </a:lnTo>
                  <a:cubicBezTo>
                    <a:pt x="0" y="15842"/>
                    <a:pt x="15842" y="0"/>
                    <a:pt x="35384" y="0"/>
                  </a:cubicBezTo>
                  <a:close/>
                </a:path>
              </a:pathLst>
            </a:custGeom>
            <a:solidFill>
              <a:srgbClr val="26365F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3461" cy="395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6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1" name="TextBox 11"/>
          <p:cNvSpPr txBox="1"/>
          <p:nvPr/>
        </p:nvSpPr>
        <p:spPr>
          <a:xfrm>
            <a:off x="2170135" y="2732521"/>
            <a:ext cx="4687865" cy="1882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967"/>
              </a:lnSpc>
              <a:spcBef>
                <a:spcPct val="0"/>
              </a:spcBef>
            </a:pPr>
            <a:r>
              <a:rPr lang="en-US" sz="11405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DOAA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91388" y="4386564"/>
            <a:ext cx="9518313" cy="196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67"/>
              </a:lnSpc>
              <a:spcBef>
                <a:spcPct val="0"/>
              </a:spcBef>
            </a:pPr>
            <a:r>
              <a:rPr lang="en-US" sz="1140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CA2 PART 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6638" y="6430503"/>
            <a:ext cx="8775079" cy="509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9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MLOPS FOR DL WEB APPLICATION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686638" y="3829159"/>
            <a:ext cx="8390599" cy="3542205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5" name="Freeform 15"/>
          <p:cNvSpPr/>
          <p:nvPr/>
        </p:nvSpPr>
        <p:spPr>
          <a:xfrm>
            <a:off x="6120595" y="1653629"/>
            <a:ext cx="1101806" cy="432454"/>
          </a:xfrm>
          <a:custGeom>
            <a:avLst/>
            <a:gdLst/>
            <a:ahLst/>
            <a:cxnLst/>
            <a:rect l="l" t="t" r="r" b="b"/>
            <a:pathLst>
              <a:path w="1101806" h="432454">
                <a:moveTo>
                  <a:pt x="0" y="0"/>
                </a:moveTo>
                <a:lnTo>
                  <a:pt x="1101806" y="0"/>
                </a:lnTo>
                <a:lnTo>
                  <a:pt x="1101806" y="432455"/>
                </a:lnTo>
                <a:lnTo>
                  <a:pt x="0" y="432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41085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6" name="TextBox 16"/>
          <p:cNvSpPr txBox="1"/>
          <p:nvPr/>
        </p:nvSpPr>
        <p:spPr>
          <a:xfrm>
            <a:off x="1028700" y="8659546"/>
            <a:ext cx="2961117" cy="29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4"/>
              </a:lnSpc>
              <a:spcBef>
                <a:spcPct val="0"/>
              </a:spcBef>
            </a:pPr>
            <a:r>
              <a:rPr lang="en-US" sz="17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84960" y="8659546"/>
            <a:ext cx="2961117" cy="29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4"/>
              </a:lnSpc>
              <a:spcBef>
                <a:spcPct val="0"/>
              </a:spcBef>
            </a:pPr>
            <a:r>
              <a:rPr lang="en-US" sz="17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 Number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9063589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Goh Kun Ming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84960" y="9063589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P2415691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9416834"/>
            <a:ext cx="309491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 b="1" i="1">
                <a:solidFill>
                  <a:srgbClr val="BCC7D8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https://orcid.org/0009-0008-7666-781X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4800" y="2468197"/>
            <a:ext cx="6874720" cy="8328610"/>
            <a:chOff x="0" y="0"/>
            <a:chExt cx="1022915" cy="1211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2915" cy="1211337"/>
            </a:xfrm>
            <a:custGeom>
              <a:avLst/>
              <a:gdLst/>
              <a:ahLst/>
              <a:cxnLst/>
              <a:rect l="l" t="t" r="r" b="b"/>
              <a:pathLst>
                <a:path w="1022915" h="1211337">
                  <a:moveTo>
                    <a:pt x="48434" y="0"/>
                  </a:moveTo>
                  <a:lnTo>
                    <a:pt x="974480" y="0"/>
                  </a:lnTo>
                  <a:cubicBezTo>
                    <a:pt x="987326" y="0"/>
                    <a:pt x="999646" y="5103"/>
                    <a:pt x="1008729" y="14186"/>
                  </a:cubicBezTo>
                  <a:cubicBezTo>
                    <a:pt x="1017812" y="23269"/>
                    <a:pt x="1022915" y="35589"/>
                    <a:pt x="1022915" y="48434"/>
                  </a:cubicBezTo>
                  <a:lnTo>
                    <a:pt x="1022915" y="1162903"/>
                  </a:lnTo>
                  <a:cubicBezTo>
                    <a:pt x="1022915" y="1189652"/>
                    <a:pt x="1001230" y="1211337"/>
                    <a:pt x="974480" y="1211337"/>
                  </a:cubicBezTo>
                  <a:lnTo>
                    <a:pt x="48434" y="1211337"/>
                  </a:lnTo>
                  <a:cubicBezTo>
                    <a:pt x="35589" y="1211337"/>
                    <a:pt x="23269" y="1206234"/>
                    <a:pt x="14186" y="1197151"/>
                  </a:cubicBezTo>
                  <a:cubicBezTo>
                    <a:pt x="5103" y="1188068"/>
                    <a:pt x="0" y="1175748"/>
                    <a:pt x="0" y="1162903"/>
                  </a:cubicBezTo>
                  <a:lnTo>
                    <a:pt x="0" y="48434"/>
                  </a:lnTo>
                  <a:cubicBezTo>
                    <a:pt x="0" y="35589"/>
                    <a:pt x="5103" y="23269"/>
                    <a:pt x="14186" y="14186"/>
                  </a:cubicBezTo>
                  <a:cubicBezTo>
                    <a:pt x="23269" y="5103"/>
                    <a:pt x="35589" y="0"/>
                    <a:pt x="48434" y="0"/>
                  </a:cubicBezTo>
                  <a:close/>
                </a:path>
              </a:pathLst>
            </a:custGeom>
            <a:blipFill>
              <a:blip r:embed="rId2"/>
              <a:stretch>
                <a:fillRect l="-23939" r="-86585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620644" y="633329"/>
            <a:ext cx="6816374" cy="959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VALUE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40962" y="633329"/>
            <a:ext cx="6816374" cy="959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BUSINESS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16530" y="3196505"/>
            <a:ext cx="4755154" cy="623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Faster vegetable identification for consumers and staff (image classifier + live detection).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Better buying decisions through confidence-scored predictions, not guesswork.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support at point-of-sale or market visits with camera-based live detection.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 transparency via Price Evaluator and searchable/filterable price views.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Smarter shopping and budgeting by comparing produce options quickly.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2" name="TextBox 12"/>
          <p:cNvSpPr txBox="1"/>
          <p:nvPr/>
        </p:nvSpPr>
        <p:spPr>
          <a:xfrm>
            <a:off x="11671684" y="3196505"/>
            <a:ext cx="5231388" cy="623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RAG assistant gives contextual guidance (produce info, usage, selection support) grounded in your app data.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Reduced manual effort for identifying characteristics in produce.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Improved consistency and accuracy versus human-only visual checks.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Stronger trust and compliance posture (auth, captcha/OTP, security gates in CI/CD).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Deployment-ready architecture (containerized services + automated pipeline + Render deploy hooks).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2746" y="3086146"/>
            <a:ext cx="8579257" cy="4858004"/>
          </a:xfrm>
          <a:custGeom>
            <a:avLst/>
            <a:gdLst/>
            <a:ahLst/>
            <a:cxnLst/>
            <a:rect l="l" t="t" r="r" b="b"/>
            <a:pathLst>
              <a:path w="8579257" h="4858004">
                <a:moveTo>
                  <a:pt x="0" y="0"/>
                </a:moveTo>
                <a:lnTo>
                  <a:pt x="8579257" y="0"/>
                </a:lnTo>
                <a:lnTo>
                  <a:pt x="8579257" y="4858004"/>
                </a:lnTo>
                <a:lnTo>
                  <a:pt x="0" y="4858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9583016" y="3086146"/>
            <a:ext cx="8502234" cy="4867529"/>
          </a:xfrm>
          <a:custGeom>
            <a:avLst/>
            <a:gdLst/>
            <a:ahLst/>
            <a:cxnLst/>
            <a:rect l="l" t="t" r="r" b="b"/>
            <a:pathLst>
              <a:path w="8502234" h="4867529">
                <a:moveTo>
                  <a:pt x="0" y="0"/>
                </a:moveTo>
                <a:lnTo>
                  <a:pt x="8502235" y="0"/>
                </a:lnTo>
                <a:lnTo>
                  <a:pt x="8502235" y="4867529"/>
                </a:lnTo>
                <a:lnTo>
                  <a:pt x="0" y="4867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PROCESS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50947" y="407909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DEVOPS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46799" y="2581320"/>
            <a:ext cx="3504148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Scrum Board Setup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55797" y="2581320"/>
            <a:ext cx="1956673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54722" y="8088353"/>
            <a:ext cx="114335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C: Content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O: Operation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G: Gate</a:t>
            </a:r>
          </a:p>
        </p:txBody>
      </p:sp>
      <p:sp>
        <p:nvSpPr>
          <p:cNvPr id="9" name="Freeform 9"/>
          <p:cNvSpPr/>
          <p:nvPr/>
        </p:nvSpPr>
        <p:spPr>
          <a:xfrm>
            <a:off x="13834133" y="345949"/>
            <a:ext cx="3644178" cy="2043464"/>
          </a:xfrm>
          <a:custGeom>
            <a:avLst/>
            <a:gdLst/>
            <a:ahLst/>
            <a:cxnLst/>
            <a:rect l="l" t="t" r="r" b="b"/>
            <a:pathLst>
              <a:path w="3644178" h="2043464">
                <a:moveTo>
                  <a:pt x="0" y="0"/>
                </a:moveTo>
                <a:lnTo>
                  <a:pt x="3644178" y="0"/>
                </a:lnTo>
                <a:lnTo>
                  <a:pt x="3644178" y="2043465"/>
                </a:lnTo>
                <a:lnTo>
                  <a:pt x="0" y="2043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0" name="TextBox 10"/>
          <p:cNvSpPr txBox="1"/>
          <p:nvPr/>
        </p:nvSpPr>
        <p:spPr>
          <a:xfrm>
            <a:off x="11593382" y="879497"/>
            <a:ext cx="2088679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GitLab Information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2" name="TextBox 12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4800" y="9407502"/>
            <a:ext cx="9733002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6" tooltip="https://gitlab.com/5691-st1516-devops/ca2-daaa2b02-p2415691-gohkun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https://gitlab.com/5691-st1516-devops/ca2-daaa2b02-p2415691-gohkunming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8318" y="2638470"/>
            <a:ext cx="9099265" cy="5766659"/>
          </a:xfrm>
          <a:custGeom>
            <a:avLst/>
            <a:gdLst/>
            <a:ahLst/>
            <a:cxnLst/>
            <a:rect l="l" t="t" r="r" b="b"/>
            <a:pathLst>
              <a:path w="9099265" h="5766659">
                <a:moveTo>
                  <a:pt x="0" y="0"/>
                </a:moveTo>
                <a:lnTo>
                  <a:pt x="9099264" y="0"/>
                </a:lnTo>
                <a:lnTo>
                  <a:pt x="9099264" y="5766659"/>
                </a:lnTo>
                <a:lnTo>
                  <a:pt x="0" y="5766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1009783" y="2629945"/>
            <a:ext cx="5640091" cy="5784709"/>
          </a:xfrm>
          <a:custGeom>
            <a:avLst/>
            <a:gdLst/>
            <a:ahLst/>
            <a:cxnLst/>
            <a:rect l="l" t="t" r="r" b="b"/>
            <a:pathLst>
              <a:path w="5640091" h="5784709">
                <a:moveTo>
                  <a:pt x="0" y="0"/>
                </a:moveTo>
                <a:lnTo>
                  <a:pt x="5640092" y="0"/>
                </a:lnTo>
                <a:lnTo>
                  <a:pt x="5640092" y="5784709"/>
                </a:lnTo>
                <a:lnTo>
                  <a:pt x="0" y="5784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PROCESS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50947" y="407909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DEVOPS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4268" y="8376554"/>
            <a:ext cx="778195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development branch merge to develop before merging to main for each release gate (Submission A &amp; Submission B)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3831" y="2125119"/>
            <a:ext cx="6288569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Branches (20 excl. main / develop)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1326" y="2125119"/>
            <a:ext cx="175700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 Lane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13709" y="8509904"/>
            <a:ext cx="363224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primarily for Part A due to urgency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1" name="TextBox 11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40198" y="9334500"/>
            <a:ext cx="9504402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5" tooltip="https://gitlab.com/5691-st1516-devops/ca2-daaa2b02-p2415691-gohkun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https://gitlab.com/5691-st1516-devops/ca2-daaa2b02-p2415691-gohkunming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5434308" y="2661851"/>
            <a:ext cx="7419384" cy="3626224"/>
          </a:xfrm>
          <a:custGeom>
            <a:avLst/>
            <a:gdLst/>
            <a:ahLst/>
            <a:cxnLst/>
            <a:rect l="l" t="t" r="r" b="b"/>
            <a:pathLst>
              <a:path w="7419384" h="3626224">
                <a:moveTo>
                  <a:pt x="0" y="0"/>
                </a:moveTo>
                <a:lnTo>
                  <a:pt x="7419384" y="0"/>
                </a:lnTo>
                <a:lnTo>
                  <a:pt x="7419384" y="3626225"/>
                </a:lnTo>
                <a:lnTo>
                  <a:pt x="0" y="3626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12405913" y="6288076"/>
            <a:ext cx="5596819" cy="2616513"/>
          </a:xfrm>
          <a:custGeom>
            <a:avLst/>
            <a:gdLst/>
            <a:ahLst/>
            <a:cxnLst/>
            <a:rect l="l" t="t" r="r" b="b"/>
            <a:pathLst>
              <a:path w="5596819" h="2616513">
                <a:moveTo>
                  <a:pt x="0" y="0"/>
                </a:moveTo>
                <a:lnTo>
                  <a:pt x="5596819" y="0"/>
                </a:lnTo>
                <a:lnTo>
                  <a:pt x="5596819" y="2616513"/>
                </a:lnTo>
                <a:lnTo>
                  <a:pt x="0" y="2616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792580" y="6330052"/>
            <a:ext cx="5596819" cy="2574537"/>
          </a:xfrm>
          <a:custGeom>
            <a:avLst/>
            <a:gdLst/>
            <a:ahLst/>
            <a:cxnLst/>
            <a:rect l="l" t="t" r="r" b="b"/>
            <a:pathLst>
              <a:path w="5596819" h="2574537">
                <a:moveTo>
                  <a:pt x="0" y="0"/>
                </a:moveTo>
                <a:lnTo>
                  <a:pt x="5596820" y="0"/>
                </a:lnTo>
                <a:lnTo>
                  <a:pt x="5596820" y="2574537"/>
                </a:lnTo>
                <a:lnTo>
                  <a:pt x="0" y="25745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SERVICE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50947" y="407909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01001" y="9353866"/>
            <a:ext cx="9885998" cy="68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6" tooltip="https://ca2-daaa2b02-p2415691-gohkunming.onrender.com/v1/models/vegnet-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https://ca2-daaa2b02-p2415691-gohkunming.onrender.com/v1/models/vegnet-23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84338" y="2167982"/>
            <a:ext cx="4269462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Deployment on Render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6053" y="5783250"/>
            <a:ext cx="3013353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Vegnet</a:t>
            </a: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(23x23)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97646" y="5783250"/>
            <a:ext cx="3142554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Vegnet</a:t>
            </a: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(101x101)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8600" y="9693591"/>
            <a:ext cx="10086618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7" tooltip="https://ca2-daaa2b02-p2415691-gohkunming.onrender.com/v1/models/vegnet-10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https://ca2-daaa2b02-p2415691-gohkunming.onrender.com/v1/models/vegnet-101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312957" y="3287216"/>
            <a:ext cx="5501023" cy="2894913"/>
          </a:xfrm>
          <a:custGeom>
            <a:avLst/>
            <a:gdLst/>
            <a:ahLst/>
            <a:cxnLst/>
            <a:rect l="l" t="t" r="r" b="b"/>
            <a:pathLst>
              <a:path w="5501023" h="2894913">
                <a:moveTo>
                  <a:pt x="0" y="0"/>
                </a:moveTo>
                <a:lnTo>
                  <a:pt x="5501023" y="0"/>
                </a:lnTo>
                <a:lnTo>
                  <a:pt x="5501023" y="2894913"/>
                </a:lnTo>
                <a:lnTo>
                  <a:pt x="0" y="2894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312957" y="6261737"/>
            <a:ext cx="5496406" cy="2894913"/>
          </a:xfrm>
          <a:custGeom>
            <a:avLst/>
            <a:gdLst/>
            <a:ahLst/>
            <a:cxnLst/>
            <a:rect l="l" t="t" r="r" b="b"/>
            <a:pathLst>
              <a:path w="5496406" h="2894913">
                <a:moveTo>
                  <a:pt x="0" y="0"/>
                </a:moveTo>
                <a:lnTo>
                  <a:pt x="5496406" y="0"/>
                </a:lnTo>
                <a:lnTo>
                  <a:pt x="5496406" y="2894913"/>
                </a:lnTo>
                <a:lnTo>
                  <a:pt x="0" y="2894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84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6009388" y="3287216"/>
            <a:ext cx="5833579" cy="2894913"/>
          </a:xfrm>
          <a:custGeom>
            <a:avLst/>
            <a:gdLst/>
            <a:ahLst/>
            <a:cxnLst/>
            <a:rect l="l" t="t" r="r" b="b"/>
            <a:pathLst>
              <a:path w="5833579" h="2894913">
                <a:moveTo>
                  <a:pt x="0" y="0"/>
                </a:moveTo>
                <a:lnTo>
                  <a:pt x="5833579" y="0"/>
                </a:lnTo>
                <a:lnTo>
                  <a:pt x="5833579" y="2894913"/>
                </a:lnTo>
                <a:lnTo>
                  <a:pt x="0" y="2894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Freeform 6"/>
          <p:cNvSpPr/>
          <p:nvPr/>
        </p:nvSpPr>
        <p:spPr>
          <a:xfrm>
            <a:off x="6009388" y="6217985"/>
            <a:ext cx="5833579" cy="2938665"/>
          </a:xfrm>
          <a:custGeom>
            <a:avLst/>
            <a:gdLst/>
            <a:ahLst/>
            <a:cxnLst/>
            <a:rect l="l" t="t" r="r" b="b"/>
            <a:pathLst>
              <a:path w="5833579" h="2938665">
                <a:moveTo>
                  <a:pt x="0" y="0"/>
                </a:moveTo>
                <a:lnTo>
                  <a:pt x="5833579" y="0"/>
                </a:lnTo>
                <a:lnTo>
                  <a:pt x="5833579" y="2938665"/>
                </a:lnTo>
                <a:lnTo>
                  <a:pt x="0" y="2938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Freeform 7"/>
          <p:cNvSpPr/>
          <p:nvPr/>
        </p:nvSpPr>
        <p:spPr>
          <a:xfrm>
            <a:off x="12040836" y="6182129"/>
            <a:ext cx="5789827" cy="2974521"/>
          </a:xfrm>
          <a:custGeom>
            <a:avLst/>
            <a:gdLst/>
            <a:ahLst/>
            <a:cxnLst/>
            <a:rect l="l" t="t" r="r" b="b"/>
            <a:pathLst>
              <a:path w="5789827" h="2974521">
                <a:moveTo>
                  <a:pt x="0" y="0"/>
                </a:moveTo>
                <a:lnTo>
                  <a:pt x="5789827" y="0"/>
                </a:lnTo>
                <a:lnTo>
                  <a:pt x="5789827" y="2974521"/>
                </a:lnTo>
                <a:lnTo>
                  <a:pt x="0" y="29745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493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8" name="Freeform 8"/>
          <p:cNvSpPr/>
          <p:nvPr/>
        </p:nvSpPr>
        <p:spPr>
          <a:xfrm>
            <a:off x="12040836" y="3287216"/>
            <a:ext cx="5789827" cy="2894913"/>
          </a:xfrm>
          <a:custGeom>
            <a:avLst/>
            <a:gdLst/>
            <a:ahLst/>
            <a:cxnLst/>
            <a:rect l="l" t="t" r="r" b="b"/>
            <a:pathLst>
              <a:path w="5789827" h="2894913">
                <a:moveTo>
                  <a:pt x="0" y="0"/>
                </a:moveTo>
                <a:lnTo>
                  <a:pt x="5789827" y="0"/>
                </a:lnTo>
                <a:lnTo>
                  <a:pt x="5789827" y="2894913"/>
                </a:lnTo>
                <a:lnTo>
                  <a:pt x="0" y="28949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9" name="TextBox 9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69441" y="413155"/>
            <a:ext cx="6749117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2734" y="9410700"/>
            <a:ext cx="7596793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9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4203" y="2842350"/>
            <a:ext cx="443853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Homepage (Dark / Light)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7813" y="2782390"/>
            <a:ext cx="47123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 In Page (Dark / Light)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84074" y="2782390"/>
            <a:ext cx="490335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 Up Page (Dark / Light)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485880" y="3497932"/>
            <a:ext cx="4796854" cy="2392431"/>
          </a:xfrm>
          <a:custGeom>
            <a:avLst/>
            <a:gdLst/>
            <a:ahLst/>
            <a:cxnLst/>
            <a:rect l="l" t="t" r="r" b="b"/>
            <a:pathLst>
              <a:path w="4796854" h="2392431">
                <a:moveTo>
                  <a:pt x="0" y="0"/>
                </a:moveTo>
                <a:lnTo>
                  <a:pt x="4796854" y="0"/>
                </a:lnTo>
                <a:lnTo>
                  <a:pt x="4796854" y="2392431"/>
                </a:lnTo>
                <a:lnTo>
                  <a:pt x="0" y="2392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485880" y="6042763"/>
            <a:ext cx="4796854" cy="2392431"/>
          </a:xfrm>
          <a:custGeom>
            <a:avLst/>
            <a:gdLst/>
            <a:ahLst/>
            <a:cxnLst/>
            <a:rect l="l" t="t" r="r" b="b"/>
            <a:pathLst>
              <a:path w="4796854" h="2392431">
                <a:moveTo>
                  <a:pt x="0" y="0"/>
                </a:moveTo>
                <a:lnTo>
                  <a:pt x="4796854" y="0"/>
                </a:lnTo>
                <a:lnTo>
                  <a:pt x="4796854" y="2392431"/>
                </a:lnTo>
                <a:lnTo>
                  <a:pt x="0" y="23924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6059450" y="3497932"/>
            <a:ext cx="4897154" cy="2649386"/>
          </a:xfrm>
          <a:custGeom>
            <a:avLst/>
            <a:gdLst/>
            <a:ahLst/>
            <a:cxnLst/>
            <a:rect l="l" t="t" r="r" b="b"/>
            <a:pathLst>
              <a:path w="4897154" h="2649386">
                <a:moveTo>
                  <a:pt x="0" y="0"/>
                </a:moveTo>
                <a:lnTo>
                  <a:pt x="4897155" y="0"/>
                </a:lnTo>
                <a:lnTo>
                  <a:pt x="4897155" y="2649386"/>
                </a:lnTo>
                <a:lnTo>
                  <a:pt x="0" y="2649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Freeform 6"/>
          <p:cNvSpPr/>
          <p:nvPr/>
        </p:nvSpPr>
        <p:spPr>
          <a:xfrm>
            <a:off x="11737655" y="3068412"/>
            <a:ext cx="6404857" cy="3230901"/>
          </a:xfrm>
          <a:custGeom>
            <a:avLst/>
            <a:gdLst/>
            <a:ahLst/>
            <a:cxnLst/>
            <a:rect l="l" t="t" r="r" b="b"/>
            <a:pathLst>
              <a:path w="6404857" h="3230901">
                <a:moveTo>
                  <a:pt x="0" y="0"/>
                </a:moveTo>
                <a:lnTo>
                  <a:pt x="6404857" y="0"/>
                </a:lnTo>
                <a:lnTo>
                  <a:pt x="6404857" y="3230901"/>
                </a:lnTo>
                <a:lnTo>
                  <a:pt x="0" y="32309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396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Freeform 7"/>
          <p:cNvSpPr/>
          <p:nvPr/>
        </p:nvSpPr>
        <p:spPr>
          <a:xfrm>
            <a:off x="11737655" y="6211807"/>
            <a:ext cx="6404857" cy="2877717"/>
          </a:xfrm>
          <a:custGeom>
            <a:avLst/>
            <a:gdLst/>
            <a:ahLst/>
            <a:cxnLst/>
            <a:rect l="l" t="t" r="r" b="b"/>
            <a:pathLst>
              <a:path w="6404857" h="2877717">
                <a:moveTo>
                  <a:pt x="0" y="0"/>
                </a:moveTo>
                <a:lnTo>
                  <a:pt x="6404857" y="0"/>
                </a:lnTo>
                <a:lnTo>
                  <a:pt x="6404857" y="2877718"/>
                </a:lnTo>
                <a:lnTo>
                  <a:pt x="0" y="2877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3119" r="-1396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8" name="TextBox 8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69441" y="421186"/>
            <a:ext cx="6749117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82734" y="9442708"/>
            <a:ext cx="7596793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8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3986" y="2840706"/>
            <a:ext cx="3308014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OTP (Dark / Light)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64727" y="2782390"/>
            <a:ext cx="3422273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OTP Email (SMTP)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82488" y="2470424"/>
            <a:ext cx="5472111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Prediction Page (Dark / Light)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201576" y="3720464"/>
            <a:ext cx="5365464" cy="3930202"/>
          </a:xfrm>
          <a:custGeom>
            <a:avLst/>
            <a:gdLst/>
            <a:ahLst/>
            <a:cxnLst/>
            <a:rect l="l" t="t" r="r" b="b"/>
            <a:pathLst>
              <a:path w="5365464" h="3930202">
                <a:moveTo>
                  <a:pt x="0" y="0"/>
                </a:moveTo>
                <a:lnTo>
                  <a:pt x="5365463" y="0"/>
                </a:lnTo>
                <a:lnTo>
                  <a:pt x="5365463" y="3930202"/>
                </a:lnTo>
                <a:lnTo>
                  <a:pt x="0" y="3930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5613210" y="3720464"/>
            <a:ext cx="6189295" cy="3930202"/>
          </a:xfrm>
          <a:custGeom>
            <a:avLst/>
            <a:gdLst/>
            <a:ahLst/>
            <a:cxnLst/>
            <a:rect l="l" t="t" r="r" b="b"/>
            <a:pathLst>
              <a:path w="6189295" h="3930202">
                <a:moveTo>
                  <a:pt x="0" y="0"/>
                </a:moveTo>
                <a:lnTo>
                  <a:pt x="6189295" y="0"/>
                </a:lnTo>
                <a:lnTo>
                  <a:pt x="6189295" y="3930202"/>
                </a:lnTo>
                <a:lnTo>
                  <a:pt x="0" y="3930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11850130" y="3355057"/>
            <a:ext cx="6288323" cy="3930202"/>
          </a:xfrm>
          <a:custGeom>
            <a:avLst/>
            <a:gdLst/>
            <a:ahLst/>
            <a:cxnLst/>
            <a:rect l="l" t="t" r="r" b="b"/>
            <a:pathLst>
              <a:path w="6288323" h="3930202">
                <a:moveTo>
                  <a:pt x="0" y="0"/>
                </a:moveTo>
                <a:lnTo>
                  <a:pt x="6288323" y="0"/>
                </a:lnTo>
                <a:lnTo>
                  <a:pt x="6288323" y="3930202"/>
                </a:lnTo>
                <a:lnTo>
                  <a:pt x="0" y="3930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Freeform 6"/>
          <p:cNvSpPr/>
          <p:nvPr/>
        </p:nvSpPr>
        <p:spPr>
          <a:xfrm>
            <a:off x="11850130" y="7285259"/>
            <a:ext cx="6308030" cy="1973041"/>
          </a:xfrm>
          <a:custGeom>
            <a:avLst/>
            <a:gdLst/>
            <a:ahLst/>
            <a:cxnLst/>
            <a:rect l="l" t="t" r="r" b="b"/>
            <a:pathLst>
              <a:path w="6308030" h="1973041">
                <a:moveTo>
                  <a:pt x="0" y="0"/>
                </a:moveTo>
                <a:lnTo>
                  <a:pt x="6308029" y="0"/>
                </a:lnTo>
                <a:lnTo>
                  <a:pt x="6308029" y="1973041"/>
                </a:lnTo>
                <a:lnTo>
                  <a:pt x="0" y="1973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134" t="-29842" r="-13284" b="-57088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TextBox 7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9441" y="411445"/>
            <a:ext cx="6749118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4000" y="9410700"/>
            <a:ext cx="7545527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7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73360" y="2840706"/>
            <a:ext cx="1912840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73006" y="2840706"/>
            <a:ext cx="4399793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History &amp; Search / Filter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50740" y="2840706"/>
            <a:ext cx="3313260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 Intelligence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0" y="3565420"/>
            <a:ext cx="6775228" cy="3396083"/>
          </a:xfrm>
          <a:custGeom>
            <a:avLst/>
            <a:gdLst/>
            <a:ahLst/>
            <a:cxnLst/>
            <a:rect l="l" t="t" r="r" b="b"/>
            <a:pathLst>
              <a:path w="6775228" h="3396083">
                <a:moveTo>
                  <a:pt x="0" y="0"/>
                </a:moveTo>
                <a:lnTo>
                  <a:pt x="6775228" y="0"/>
                </a:lnTo>
                <a:lnTo>
                  <a:pt x="6775228" y="3396084"/>
                </a:lnTo>
                <a:lnTo>
                  <a:pt x="0" y="3396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8651414" y="3565420"/>
            <a:ext cx="5176529" cy="4277107"/>
          </a:xfrm>
          <a:custGeom>
            <a:avLst/>
            <a:gdLst/>
            <a:ahLst/>
            <a:cxnLst/>
            <a:rect l="l" t="t" r="r" b="b"/>
            <a:pathLst>
              <a:path w="5176529" h="4277107">
                <a:moveTo>
                  <a:pt x="0" y="0"/>
                </a:moveTo>
                <a:lnTo>
                  <a:pt x="5176529" y="0"/>
                </a:lnTo>
                <a:lnTo>
                  <a:pt x="5176529" y="4277108"/>
                </a:lnTo>
                <a:lnTo>
                  <a:pt x="0" y="4277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56386" y="411445"/>
            <a:ext cx="6775228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34000" y="9436416"/>
            <a:ext cx="7545527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5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8501" y="2947386"/>
            <a:ext cx="3120699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Camera Capture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37549" y="2947386"/>
            <a:ext cx="7545527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Prediction using Camera Captured Image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75301" y="7804428"/>
            <a:ext cx="432875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Poor Accuracy due to Image Noise / Poor Model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3493371" y="3129062"/>
            <a:ext cx="11301259" cy="6229819"/>
          </a:xfrm>
          <a:custGeom>
            <a:avLst/>
            <a:gdLst/>
            <a:ahLst/>
            <a:cxnLst/>
            <a:rect l="l" t="t" r="r" b="b"/>
            <a:pathLst>
              <a:path w="11301259" h="6229819">
                <a:moveTo>
                  <a:pt x="0" y="0"/>
                </a:moveTo>
                <a:lnTo>
                  <a:pt x="11301258" y="0"/>
                </a:lnTo>
                <a:lnTo>
                  <a:pt x="11301258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32204" y="411445"/>
            <a:ext cx="6749117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4000" y="9358880"/>
            <a:ext cx="7545527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4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2112" y="2581626"/>
            <a:ext cx="2663488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Live Detection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231269" y="3372202"/>
            <a:ext cx="5694648" cy="5666175"/>
          </a:xfrm>
          <a:custGeom>
            <a:avLst/>
            <a:gdLst/>
            <a:ahLst/>
            <a:cxnLst/>
            <a:rect l="l" t="t" r="r" b="b"/>
            <a:pathLst>
              <a:path w="5694648" h="5666175">
                <a:moveTo>
                  <a:pt x="0" y="0"/>
                </a:moveTo>
                <a:lnTo>
                  <a:pt x="5694648" y="0"/>
                </a:lnTo>
                <a:lnTo>
                  <a:pt x="5694648" y="5666175"/>
                </a:lnTo>
                <a:lnTo>
                  <a:pt x="0" y="5666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6193323" y="3372202"/>
            <a:ext cx="5828903" cy="5741470"/>
          </a:xfrm>
          <a:custGeom>
            <a:avLst/>
            <a:gdLst/>
            <a:ahLst/>
            <a:cxnLst/>
            <a:rect l="l" t="t" r="r" b="b"/>
            <a:pathLst>
              <a:path w="5828903" h="5741470">
                <a:moveTo>
                  <a:pt x="0" y="0"/>
                </a:moveTo>
                <a:lnTo>
                  <a:pt x="5828903" y="0"/>
                </a:lnTo>
                <a:lnTo>
                  <a:pt x="5828903" y="5741469"/>
                </a:lnTo>
                <a:lnTo>
                  <a:pt x="0" y="5741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12289632" y="3372202"/>
            <a:ext cx="5767099" cy="5666175"/>
          </a:xfrm>
          <a:custGeom>
            <a:avLst/>
            <a:gdLst/>
            <a:ahLst/>
            <a:cxnLst/>
            <a:rect l="l" t="t" r="r" b="b"/>
            <a:pathLst>
              <a:path w="5767099" h="5666175">
                <a:moveTo>
                  <a:pt x="0" y="0"/>
                </a:moveTo>
                <a:lnTo>
                  <a:pt x="5767099" y="0"/>
                </a:lnTo>
                <a:lnTo>
                  <a:pt x="5767099" y="5666175"/>
                </a:lnTo>
                <a:lnTo>
                  <a:pt x="0" y="5666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69441" y="407909"/>
            <a:ext cx="6749118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800" y="9399422"/>
            <a:ext cx="7621727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6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45940" y="2581626"/>
            <a:ext cx="4384060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 Batch Prediction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34753" y="3136573"/>
            <a:ext cx="6162331" cy="3081165"/>
          </a:xfrm>
          <a:custGeom>
            <a:avLst/>
            <a:gdLst/>
            <a:ahLst/>
            <a:cxnLst/>
            <a:rect l="l" t="t" r="r" b="b"/>
            <a:pathLst>
              <a:path w="6162331" h="3081165">
                <a:moveTo>
                  <a:pt x="0" y="0"/>
                </a:moveTo>
                <a:lnTo>
                  <a:pt x="6162331" y="0"/>
                </a:lnTo>
                <a:lnTo>
                  <a:pt x="6162331" y="3081166"/>
                </a:lnTo>
                <a:lnTo>
                  <a:pt x="0" y="3081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34753" y="6253626"/>
            <a:ext cx="6162331" cy="3111977"/>
          </a:xfrm>
          <a:custGeom>
            <a:avLst/>
            <a:gdLst/>
            <a:ahLst/>
            <a:cxnLst/>
            <a:rect l="l" t="t" r="r" b="b"/>
            <a:pathLst>
              <a:path w="6162331" h="3111977">
                <a:moveTo>
                  <a:pt x="0" y="0"/>
                </a:moveTo>
                <a:lnTo>
                  <a:pt x="6162331" y="0"/>
                </a:lnTo>
                <a:lnTo>
                  <a:pt x="6162331" y="3111978"/>
                </a:lnTo>
                <a:lnTo>
                  <a:pt x="0" y="3111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7414840" y="3322359"/>
            <a:ext cx="3852197" cy="4565059"/>
          </a:xfrm>
          <a:custGeom>
            <a:avLst/>
            <a:gdLst/>
            <a:ahLst/>
            <a:cxnLst/>
            <a:rect l="l" t="t" r="r" b="b"/>
            <a:pathLst>
              <a:path w="3852197" h="4565059">
                <a:moveTo>
                  <a:pt x="0" y="0"/>
                </a:moveTo>
                <a:lnTo>
                  <a:pt x="3852198" y="0"/>
                </a:lnTo>
                <a:lnTo>
                  <a:pt x="3852198" y="4565059"/>
                </a:lnTo>
                <a:lnTo>
                  <a:pt x="0" y="4565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Freeform 6"/>
          <p:cNvSpPr/>
          <p:nvPr/>
        </p:nvSpPr>
        <p:spPr>
          <a:xfrm>
            <a:off x="11730130" y="3322359"/>
            <a:ext cx="5990579" cy="2074238"/>
          </a:xfrm>
          <a:custGeom>
            <a:avLst/>
            <a:gdLst/>
            <a:ahLst/>
            <a:cxnLst/>
            <a:rect l="l" t="t" r="r" b="b"/>
            <a:pathLst>
              <a:path w="5990579" h="2074238">
                <a:moveTo>
                  <a:pt x="0" y="0"/>
                </a:moveTo>
                <a:lnTo>
                  <a:pt x="5990579" y="0"/>
                </a:lnTo>
                <a:lnTo>
                  <a:pt x="5990579" y="2074238"/>
                </a:lnTo>
                <a:lnTo>
                  <a:pt x="0" y="20742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TextBox 7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9441" y="411445"/>
            <a:ext cx="6749117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4000" y="9365602"/>
            <a:ext cx="7545527" cy="337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7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56704" y="2537549"/>
            <a:ext cx="1305696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19677" y="2817533"/>
            <a:ext cx="3286472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RAG-Capabilities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1" y="2817533"/>
            <a:ext cx="4904728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Source of Truth Reference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73253" y="2935695"/>
            <a:ext cx="8063592" cy="2681144"/>
          </a:xfrm>
          <a:custGeom>
            <a:avLst/>
            <a:gdLst/>
            <a:ahLst/>
            <a:cxnLst/>
            <a:rect l="l" t="t" r="r" b="b"/>
            <a:pathLst>
              <a:path w="8063592" h="2681144">
                <a:moveTo>
                  <a:pt x="0" y="0"/>
                </a:moveTo>
                <a:lnTo>
                  <a:pt x="8063592" y="0"/>
                </a:lnTo>
                <a:lnTo>
                  <a:pt x="8063592" y="2681144"/>
                </a:lnTo>
                <a:lnTo>
                  <a:pt x="0" y="2681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173253" y="5686202"/>
            <a:ext cx="8063592" cy="2650906"/>
          </a:xfrm>
          <a:custGeom>
            <a:avLst/>
            <a:gdLst/>
            <a:ahLst/>
            <a:cxnLst/>
            <a:rect l="l" t="t" r="r" b="b"/>
            <a:pathLst>
              <a:path w="8063592" h="2650906">
                <a:moveTo>
                  <a:pt x="0" y="0"/>
                </a:moveTo>
                <a:lnTo>
                  <a:pt x="8063592" y="0"/>
                </a:lnTo>
                <a:lnTo>
                  <a:pt x="8063592" y="2650906"/>
                </a:lnTo>
                <a:lnTo>
                  <a:pt x="0" y="265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10136743" y="3031112"/>
            <a:ext cx="7733228" cy="2271636"/>
          </a:xfrm>
          <a:custGeom>
            <a:avLst/>
            <a:gdLst/>
            <a:ahLst/>
            <a:cxnLst/>
            <a:rect l="l" t="t" r="r" b="b"/>
            <a:pathLst>
              <a:path w="7733228" h="2271636">
                <a:moveTo>
                  <a:pt x="0" y="0"/>
                </a:moveTo>
                <a:lnTo>
                  <a:pt x="7733228" y="0"/>
                </a:lnTo>
                <a:lnTo>
                  <a:pt x="7733228" y="2271636"/>
                </a:lnTo>
                <a:lnTo>
                  <a:pt x="0" y="2271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Freeform 6"/>
          <p:cNvSpPr/>
          <p:nvPr/>
        </p:nvSpPr>
        <p:spPr>
          <a:xfrm>
            <a:off x="10136743" y="5312273"/>
            <a:ext cx="7733228" cy="2890294"/>
          </a:xfrm>
          <a:custGeom>
            <a:avLst/>
            <a:gdLst/>
            <a:ahLst/>
            <a:cxnLst/>
            <a:rect l="l" t="t" r="r" b="b"/>
            <a:pathLst>
              <a:path w="7733228" h="2890294">
                <a:moveTo>
                  <a:pt x="0" y="0"/>
                </a:moveTo>
                <a:lnTo>
                  <a:pt x="7733228" y="0"/>
                </a:lnTo>
                <a:lnTo>
                  <a:pt x="7733228" y="2890294"/>
                </a:lnTo>
                <a:lnTo>
                  <a:pt x="0" y="2890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TextBox 7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69441" y="411445"/>
            <a:ext cx="6749118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4000" y="9486900"/>
            <a:ext cx="7545527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7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78180" y="2430869"/>
            <a:ext cx="4704219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Docker Deployment Logs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40571" y="3703402"/>
            <a:ext cx="7694421" cy="2471833"/>
          </a:xfrm>
          <a:custGeom>
            <a:avLst/>
            <a:gdLst/>
            <a:ahLst/>
            <a:cxnLst/>
            <a:rect l="l" t="t" r="r" b="b"/>
            <a:pathLst>
              <a:path w="7694421" h="2471833">
                <a:moveTo>
                  <a:pt x="0" y="0"/>
                </a:moveTo>
                <a:lnTo>
                  <a:pt x="7694421" y="0"/>
                </a:lnTo>
                <a:lnTo>
                  <a:pt x="7694421" y="2471833"/>
                </a:lnTo>
                <a:lnTo>
                  <a:pt x="0" y="2471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8716996" y="3798343"/>
            <a:ext cx="8865842" cy="3369020"/>
          </a:xfrm>
          <a:custGeom>
            <a:avLst/>
            <a:gdLst/>
            <a:ahLst/>
            <a:cxnLst/>
            <a:rect l="l" t="t" r="r" b="b"/>
            <a:pathLst>
              <a:path w="8865842" h="3369020">
                <a:moveTo>
                  <a:pt x="0" y="0"/>
                </a:moveTo>
                <a:lnTo>
                  <a:pt x="8865842" y="0"/>
                </a:lnTo>
                <a:lnTo>
                  <a:pt x="8865842" y="3369020"/>
                </a:lnTo>
                <a:lnTo>
                  <a:pt x="0" y="3369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4529691" y="8205588"/>
            <a:ext cx="11301259" cy="805215"/>
          </a:xfrm>
          <a:custGeom>
            <a:avLst/>
            <a:gdLst/>
            <a:ahLst/>
            <a:cxnLst/>
            <a:rect l="l" t="t" r="r" b="b"/>
            <a:pathLst>
              <a:path w="11301259" h="805215">
                <a:moveTo>
                  <a:pt x="0" y="0"/>
                </a:moveTo>
                <a:lnTo>
                  <a:pt x="11301258" y="0"/>
                </a:lnTo>
                <a:lnTo>
                  <a:pt x="11301258" y="805215"/>
                </a:lnTo>
                <a:lnTo>
                  <a:pt x="0" y="805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DEVELOPMENT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31341" y="411445"/>
            <a:ext cx="6825317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 APPLICATION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52216" y="9410700"/>
            <a:ext cx="7527311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6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3588" y="3198577"/>
            <a:ext cx="6173012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Docker Deployment Success Logs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46403" y="3198577"/>
            <a:ext cx="4807030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SQLite Database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52216" y="7700763"/>
            <a:ext cx="9735384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Password Hashing + Salting (One-Way Cryptography)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3493371" y="3099601"/>
            <a:ext cx="11301259" cy="5198579"/>
          </a:xfrm>
          <a:custGeom>
            <a:avLst/>
            <a:gdLst/>
            <a:ahLst/>
            <a:cxnLst/>
            <a:rect l="l" t="t" r="r" b="b"/>
            <a:pathLst>
              <a:path w="11301259" h="5198579">
                <a:moveTo>
                  <a:pt x="0" y="0"/>
                </a:moveTo>
                <a:lnTo>
                  <a:pt x="11301258" y="0"/>
                </a:lnTo>
                <a:lnTo>
                  <a:pt x="11301258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TESTING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22966" y="411445"/>
            <a:ext cx="4642068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AUTOMATIC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08474" y="9410700"/>
            <a:ext cx="7545526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4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96200" y="2594775"/>
            <a:ext cx="2288679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Overall Test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TESTING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61066" y="418765"/>
            <a:ext cx="4565868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AUTOMATIC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08474" y="9353866"/>
            <a:ext cx="7545526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3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4342" y="3029508"/>
            <a:ext cx="15479316" cy="544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Unit tests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Core validation/preprocessing logic (image parsing, input-size rules, probability extraction, deterministic outputs).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Covers validity, range, consistency, expected-failure, and unexpected-failure scenarios.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079"/>
              </a:lnSpc>
            </a:pPr>
            <a:r>
              <a:rPr lang="en-US" sz="2199" b="1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API tests (backend + model service)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 APIs: login/signup/register/logout/me, captcha/OTP, password reset, profile flows.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Prediction APIs: /api/predict, /api/veggie/predict, /api/veggie/detect.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History APIs: list/detail/image/delete, pagination/filter bounds, user isolation.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Prices/catalog/model list APIs.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Chat/RAG APIs: message, history, conversations.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 service APIs: /health, /predict (multipart/base64, invalid model/input, top_k validation).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079"/>
              </a:lnSpc>
            </a:pPr>
            <a:r>
              <a:rPr lang="en-US" sz="2199" b="1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Contract tests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Route registration test to ensure crucial REST endpoints exist and are correctly exposed.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TESTING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61066" y="411445"/>
            <a:ext cx="4565868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AUTOMATIC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08474" y="9353866"/>
            <a:ext cx="7545526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3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72176" y="2985452"/>
            <a:ext cx="13943648" cy="427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Security tests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 guarding and unauthorized access rejection.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Brute-force/rate-limit and invalid credential behavior.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CORS/security-header hardening checks.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IDOR-style access controls (cross-user access blocked).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Captcha/OTP misuse/replay and negative-path scenarios.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Vulnerability scanning in CI: Bandit, pip-audit, gitleaks.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079"/>
              </a:lnSpc>
            </a:pPr>
            <a:r>
              <a:rPr lang="en-US" sz="2199" b="1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E2E tests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secure flow: captcha -&gt; signup/login -&gt; OTP verify -&gt; model predict -&gt; history -&gt; chat interaction.</a:t>
            </a:r>
          </a:p>
          <a:p>
            <a:pPr marL="474979" lvl="1" indent="-237490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Includes cross-boundary behavior between auth, prediction, persistence, and chat modules.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3188571" y="3215732"/>
            <a:ext cx="11301259" cy="5481111"/>
          </a:xfrm>
          <a:custGeom>
            <a:avLst/>
            <a:gdLst/>
            <a:ahLst/>
            <a:cxnLst/>
            <a:rect l="l" t="t" r="r" b="b"/>
            <a:pathLst>
              <a:path w="11301259" h="5481111">
                <a:moveTo>
                  <a:pt x="0" y="0"/>
                </a:moveTo>
                <a:lnTo>
                  <a:pt x="11301258" y="0"/>
                </a:lnTo>
                <a:lnTo>
                  <a:pt x="11301258" y="5481111"/>
                </a:lnTo>
                <a:lnTo>
                  <a:pt x="0" y="5481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OPERATIONS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15570" y="407389"/>
            <a:ext cx="7256859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83771" y="2594775"/>
            <a:ext cx="591085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 Pipeline Checks Before Merge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40198" y="9353866"/>
            <a:ext cx="9504402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4" tooltip="https://gitlab.com/5691-st1516-devops/ca2-daaa2b02-p2415691-gohkun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https://gitlab.com/5691-st1516-devops/ca2-daaa2b02-p2415691-gohkunming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3493371" y="3385351"/>
            <a:ext cx="11301259" cy="2246125"/>
          </a:xfrm>
          <a:custGeom>
            <a:avLst/>
            <a:gdLst/>
            <a:ahLst/>
            <a:cxnLst/>
            <a:rect l="l" t="t" r="r" b="b"/>
            <a:pathLst>
              <a:path w="11301259" h="2246125">
                <a:moveTo>
                  <a:pt x="0" y="0"/>
                </a:moveTo>
                <a:lnTo>
                  <a:pt x="11301258" y="0"/>
                </a:lnTo>
                <a:lnTo>
                  <a:pt x="11301258" y="2246125"/>
                </a:lnTo>
                <a:lnTo>
                  <a:pt x="0" y="2246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252349" y="6504405"/>
            <a:ext cx="7694421" cy="2471833"/>
          </a:xfrm>
          <a:custGeom>
            <a:avLst/>
            <a:gdLst/>
            <a:ahLst/>
            <a:cxnLst/>
            <a:rect l="l" t="t" r="r" b="b"/>
            <a:pathLst>
              <a:path w="7694421" h="2471833">
                <a:moveTo>
                  <a:pt x="0" y="0"/>
                </a:moveTo>
                <a:lnTo>
                  <a:pt x="7694422" y="0"/>
                </a:lnTo>
                <a:lnTo>
                  <a:pt x="7694422" y="2471833"/>
                </a:lnTo>
                <a:lnTo>
                  <a:pt x="0" y="2471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8456261" y="6761178"/>
            <a:ext cx="9381010" cy="1958286"/>
          </a:xfrm>
          <a:custGeom>
            <a:avLst/>
            <a:gdLst/>
            <a:ahLst/>
            <a:cxnLst/>
            <a:rect l="l" t="t" r="r" b="b"/>
            <a:pathLst>
              <a:path w="9381010" h="1958286">
                <a:moveTo>
                  <a:pt x="0" y="0"/>
                </a:moveTo>
                <a:lnTo>
                  <a:pt x="9381011" y="0"/>
                </a:lnTo>
                <a:lnTo>
                  <a:pt x="9381011" y="1958286"/>
                </a:lnTo>
                <a:lnTo>
                  <a:pt x="0" y="1958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OPERATIONS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15570" y="407909"/>
            <a:ext cx="7256859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12687" y="2594775"/>
            <a:ext cx="3253026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 Pipeline Stages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40198" y="9353866"/>
            <a:ext cx="9504402" cy="688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6" tooltip="https://gitlab.com/5691-st1516-devops/ca2-daaa2b02-p2415691-gohkun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https://gitlab.com/5691-st1516-devops/ca2-daaa2b02-p2415691-gohkunming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7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5366" y="5999579"/>
            <a:ext cx="614838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Docker Deployment Success Logs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36375" y="6223417"/>
            <a:ext cx="7220784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Docker Deployment Auto-Deploy Config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3663319" y="3247004"/>
            <a:ext cx="10351762" cy="582286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AUTOMATION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09096" y="407910"/>
            <a:ext cx="6159103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ROBOT PROCESS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30230" y="2594775"/>
            <a:ext cx="5586107" cy="504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RPA For Testing of Application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12154" y="9077643"/>
            <a:ext cx="6124899" cy="256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RPA done on localhost so as to bypass Captcha &amp; OTP with ‘00000’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709043" y="3393645"/>
            <a:ext cx="4373655" cy="5997876"/>
          </a:xfrm>
          <a:custGeom>
            <a:avLst/>
            <a:gdLst/>
            <a:ahLst/>
            <a:cxnLst/>
            <a:rect l="l" t="t" r="r" b="b"/>
            <a:pathLst>
              <a:path w="4373655" h="5997876">
                <a:moveTo>
                  <a:pt x="0" y="0"/>
                </a:moveTo>
                <a:lnTo>
                  <a:pt x="4373655" y="0"/>
                </a:lnTo>
                <a:lnTo>
                  <a:pt x="4373655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5082698" y="3385351"/>
            <a:ext cx="4174290" cy="6014464"/>
          </a:xfrm>
          <a:custGeom>
            <a:avLst/>
            <a:gdLst/>
            <a:ahLst/>
            <a:cxnLst/>
            <a:rect l="l" t="t" r="r" b="b"/>
            <a:pathLst>
              <a:path w="4174290" h="6014464">
                <a:moveTo>
                  <a:pt x="0" y="0"/>
                </a:moveTo>
                <a:lnTo>
                  <a:pt x="4174290" y="0"/>
                </a:lnTo>
                <a:lnTo>
                  <a:pt x="4174290" y="6014464"/>
                </a:lnTo>
                <a:lnTo>
                  <a:pt x="0" y="6014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Freeform 5"/>
          <p:cNvSpPr/>
          <p:nvPr/>
        </p:nvSpPr>
        <p:spPr>
          <a:xfrm>
            <a:off x="9248871" y="3385351"/>
            <a:ext cx="4161940" cy="6004110"/>
          </a:xfrm>
          <a:custGeom>
            <a:avLst/>
            <a:gdLst/>
            <a:ahLst/>
            <a:cxnLst/>
            <a:rect l="l" t="t" r="r" b="b"/>
            <a:pathLst>
              <a:path w="4161940" h="6004110">
                <a:moveTo>
                  <a:pt x="0" y="0"/>
                </a:moveTo>
                <a:lnTo>
                  <a:pt x="4161940" y="0"/>
                </a:lnTo>
                <a:lnTo>
                  <a:pt x="4161940" y="6004110"/>
                </a:lnTo>
                <a:lnTo>
                  <a:pt x="0" y="600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Freeform 6"/>
          <p:cNvSpPr/>
          <p:nvPr/>
        </p:nvSpPr>
        <p:spPr>
          <a:xfrm>
            <a:off x="13410811" y="3393645"/>
            <a:ext cx="4168146" cy="6020655"/>
          </a:xfrm>
          <a:custGeom>
            <a:avLst/>
            <a:gdLst/>
            <a:ahLst/>
            <a:cxnLst/>
            <a:rect l="l" t="t" r="r" b="b"/>
            <a:pathLst>
              <a:path w="4168146" h="6020655">
                <a:moveTo>
                  <a:pt x="0" y="0"/>
                </a:moveTo>
                <a:lnTo>
                  <a:pt x="4168146" y="0"/>
                </a:lnTo>
                <a:lnTo>
                  <a:pt x="4168146" y="6020655"/>
                </a:lnTo>
                <a:lnTo>
                  <a:pt x="0" y="6020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7" name="TextBox 7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AUTOMATION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64448" y="432924"/>
            <a:ext cx="6159103" cy="929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ROBOT PROCESS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88210" y="2594775"/>
            <a:ext cx="2622590" cy="494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RPA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4596405" y="3385351"/>
            <a:ext cx="4324532" cy="5953774"/>
          </a:xfrm>
          <a:custGeom>
            <a:avLst/>
            <a:gdLst/>
            <a:ahLst/>
            <a:cxnLst/>
            <a:rect l="l" t="t" r="r" b="b"/>
            <a:pathLst>
              <a:path w="4324532" h="5953774">
                <a:moveTo>
                  <a:pt x="0" y="0"/>
                </a:moveTo>
                <a:lnTo>
                  <a:pt x="4324532" y="0"/>
                </a:lnTo>
                <a:lnTo>
                  <a:pt x="4324532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8920937" y="3385351"/>
            <a:ext cx="4161059" cy="6008258"/>
          </a:xfrm>
          <a:custGeom>
            <a:avLst/>
            <a:gdLst/>
            <a:ahLst/>
            <a:cxnLst/>
            <a:rect l="l" t="t" r="r" b="b"/>
            <a:pathLst>
              <a:path w="4161059" h="6008258">
                <a:moveTo>
                  <a:pt x="0" y="0"/>
                </a:moveTo>
                <a:lnTo>
                  <a:pt x="4161058" y="0"/>
                </a:lnTo>
                <a:lnTo>
                  <a:pt x="4161058" y="6008257"/>
                </a:lnTo>
                <a:lnTo>
                  <a:pt x="0" y="6008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AUTOMATION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64448" y="407909"/>
            <a:ext cx="6159103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ROBOT PROCESS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88210" y="2594775"/>
            <a:ext cx="2622590" cy="494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RPA Workflow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6350947" y="1262907"/>
            <a:ext cx="5586107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LINKS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27353" y="411445"/>
            <a:ext cx="4433292" cy="95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IMPORTANT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6572" y="2694403"/>
            <a:ext cx="15014853" cy="5880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 u="sng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GitLab</a:t>
            </a:r>
          </a:p>
          <a:p>
            <a:pPr algn="ctr">
              <a:lnSpc>
                <a:spcPts val="4199"/>
              </a:lnSpc>
            </a:pPr>
            <a:r>
              <a:rPr lang="en-US" sz="2999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3" tooltip="https://gitlab.com/5691-st1516-devops/ca2-daaa2b02-p2415691-gohkun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https://gitlab.com/5691-st1516-devops/ca2-daaa2b02-p2415691-gohkunming</a:t>
            </a:r>
          </a:p>
          <a:p>
            <a:pPr algn="ctr">
              <a:lnSpc>
                <a:spcPts val="4199"/>
              </a:lnSpc>
            </a:pPr>
            <a:endParaRPr lang="en-US" sz="2999" i="1" u="sng" dirty="0">
              <a:solidFill>
                <a:schemeClr val="bg1"/>
              </a:solidFill>
              <a:latin typeface="Inter Italics"/>
              <a:ea typeface="Inter Italics"/>
              <a:cs typeface="Inter Italics"/>
              <a:sym typeface="Inter Italics"/>
              <a:hlinkClick r:id="rId3" tooltip="https://gitlab.com/5691-st1516-devops/ca2-daaa2b02-p2415691-gohkunming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lnSpc>
                <a:spcPts val="4199"/>
              </a:lnSpc>
            </a:pPr>
            <a:r>
              <a:rPr lang="en-US" sz="2999" b="1" u="sng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Application</a:t>
            </a:r>
          </a:p>
          <a:p>
            <a:pPr algn="ctr">
              <a:lnSpc>
                <a:spcPts val="4199"/>
              </a:lnSpc>
            </a:pPr>
            <a:r>
              <a:rPr lang="en-US" sz="2999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4" tooltip="https://ca2-daaa2b02-p2415691-gohkunming-1.onrender.co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https://ca2-daaa2b02-p2415691-gohkunming-1.onrender.com</a:t>
            </a:r>
          </a:p>
          <a:p>
            <a:pPr algn="ctr">
              <a:lnSpc>
                <a:spcPts val="4199"/>
              </a:lnSpc>
            </a:pPr>
            <a:endParaRPr lang="en-US" sz="2999" i="1" u="sng" dirty="0">
              <a:solidFill>
                <a:schemeClr val="bg1"/>
              </a:solidFill>
              <a:latin typeface="Inter Italics"/>
              <a:ea typeface="Inter Italics"/>
              <a:cs typeface="Inter Italics"/>
              <a:sym typeface="Inter Italics"/>
              <a:hlinkClick r:id="rId4" tooltip="https://ca2-daaa2b02-p2415691-gohkunming-1.onrender.com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lnSpc>
                <a:spcPts val="4199"/>
              </a:lnSpc>
            </a:pPr>
            <a:r>
              <a:rPr lang="en-US" sz="2999" b="1" u="sng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Model Serving (23x23)</a:t>
            </a:r>
          </a:p>
          <a:p>
            <a:pPr algn="ctr">
              <a:lnSpc>
                <a:spcPts val="4199"/>
              </a:lnSpc>
            </a:pPr>
            <a:r>
              <a:rPr lang="en-US" sz="2999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5" tooltip="https://ca2-daaa2b02-p2415691-gohkunming.onrender.com/v1/models/vegnet-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https://ca2-daaa2b02-p2415691-gohkunming.onrender.com/v1/models/vegnet-23</a:t>
            </a:r>
          </a:p>
          <a:p>
            <a:pPr algn="ctr">
              <a:lnSpc>
                <a:spcPts val="4199"/>
              </a:lnSpc>
            </a:pPr>
            <a:endParaRPr lang="en-US" sz="2999" i="1" u="sng" dirty="0">
              <a:solidFill>
                <a:schemeClr val="bg1"/>
              </a:solidFill>
              <a:latin typeface="Inter Italics"/>
              <a:ea typeface="Inter Italics"/>
              <a:cs typeface="Inter Italics"/>
              <a:sym typeface="Inter Italics"/>
              <a:hlinkClick r:id="rId5" tooltip="https://ca2-daaa2b02-p2415691-gohkunming.onrender.com/v1/models/vegnet-2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lnSpc>
                <a:spcPts val="4199"/>
              </a:lnSpc>
            </a:pPr>
            <a:r>
              <a:rPr lang="en-US" sz="2999" b="1" u="sng" dirty="0">
                <a:solidFill>
                  <a:schemeClr val="bg1"/>
                </a:solidFill>
                <a:latin typeface="Inter Bold"/>
                <a:ea typeface="Inter Bold"/>
                <a:cs typeface="Inter Bold"/>
                <a:sym typeface="Inter Bold"/>
              </a:rPr>
              <a:t>Model Serving (101x101)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 u="sng" dirty="0">
                <a:solidFill>
                  <a:schemeClr val="bg1"/>
                </a:solidFill>
                <a:latin typeface="Inter Italics"/>
                <a:ea typeface="Inter Italics"/>
                <a:cs typeface="Inter Italics"/>
                <a:sym typeface="Inter Italics"/>
                <a:hlinkClick r:id="rId6" tooltip="https://ca2-daaa2b02-p2415691-gohkunming.onrender.com/v1/models/vegnet-10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https://ca2-daaa2b02-p2415691-gohkunming.onrender.com/v1/models/vegnet-101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6829365" y="407909"/>
            <a:ext cx="4629269" cy="952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3"/>
              </a:lnSpc>
              <a:spcBef>
                <a:spcPct val="0"/>
              </a:spcBef>
            </a:pPr>
            <a:r>
              <a:rPr lang="en-US" sz="561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65441" y="4076700"/>
            <a:ext cx="13757118" cy="155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vegetables (2023). vegetable Object Detection Model by vegetables. [online] Roboflow. Available at: https://universe.roboflow.com/vegetables-zdlas/vegetable-cihx0 [Accessed 9 Feb. 2026].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17" t="-3208" r="-17577" b="-23786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3875617" cy="10287000"/>
            <a:chOff x="0" y="0"/>
            <a:chExt cx="365448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4484" cy="2709333"/>
            </a:xfrm>
            <a:custGeom>
              <a:avLst/>
              <a:gdLst/>
              <a:ahLst/>
              <a:cxnLst/>
              <a:rect l="l" t="t" r="r" b="b"/>
              <a:pathLst>
                <a:path w="3654484" h="2709333">
                  <a:moveTo>
                    <a:pt x="0" y="0"/>
                  </a:moveTo>
                  <a:lnTo>
                    <a:pt x="3654484" y="0"/>
                  </a:lnTo>
                  <a:lnTo>
                    <a:pt x="3654484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50D20">
                    <a:alpha val="100000"/>
                  </a:srgbClr>
                </a:gs>
                <a:gs pos="50000">
                  <a:srgbClr val="050D20">
                    <a:alpha val="95000"/>
                  </a:srgbClr>
                </a:gs>
                <a:gs pos="100000">
                  <a:srgbClr val="050D20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6544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6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6638" y="3490151"/>
            <a:ext cx="8775079" cy="1736075"/>
            <a:chOff x="0" y="0"/>
            <a:chExt cx="1760409" cy="3482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0408" cy="348282"/>
            </a:xfrm>
            <a:custGeom>
              <a:avLst/>
              <a:gdLst/>
              <a:ahLst/>
              <a:cxnLst/>
              <a:rect l="l" t="t" r="r" b="b"/>
              <a:pathLst>
                <a:path w="1760408" h="348282">
                  <a:moveTo>
                    <a:pt x="21174" y="0"/>
                  </a:moveTo>
                  <a:lnTo>
                    <a:pt x="1739234" y="0"/>
                  </a:lnTo>
                  <a:cubicBezTo>
                    <a:pt x="1744850" y="0"/>
                    <a:pt x="1750236" y="2231"/>
                    <a:pt x="1754207" y="6202"/>
                  </a:cubicBezTo>
                  <a:cubicBezTo>
                    <a:pt x="1758178" y="10173"/>
                    <a:pt x="1760408" y="15559"/>
                    <a:pt x="1760408" y="21174"/>
                  </a:cubicBezTo>
                  <a:lnTo>
                    <a:pt x="1760408" y="327108"/>
                  </a:lnTo>
                  <a:cubicBezTo>
                    <a:pt x="1760408" y="338802"/>
                    <a:pt x="1750928" y="348282"/>
                    <a:pt x="1739234" y="348282"/>
                  </a:cubicBezTo>
                  <a:lnTo>
                    <a:pt x="21174" y="348282"/>
                  </a:lnTo>
                  <a:cubicBezTo>
                    <a:pt x="9480" y="348282"/>
                    <a:pt x="0" y="338802"/>
                    <a:pt x="0" y="327108"/>
                  </a:cubicBezTo>
                  <a:lnTo>
                    <a:pt x="0" y="21174"/>
                  </a:lnTo>
                  <a:cubicBezTo>
                    <a:pt x="0" y="9480"/>
                    <a:pt x="9480" y="0"/>
                    <a:pt x="21174" y="0"/>
                  </a:cubicBezTo>
                  <a:close/>
                </a:path>
              </a:pathLst>
            </a:custGeom>
            <a:solidFill>
              <a:srgbClr val="26365F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60409" cy="395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6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29260" y="3419093"/>
            <a:ext cx="8089833" cy="172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27"/>
              </a:lnSpc>
              <a:spcBef>
                <a:spcPct val="0"/>
              </a:spcBef>
            </a:pPr>
            <a:r>
              <a:rPr lang="en-US" sz="1001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91388" y="5246322"/>
            <a:ext cx="9994793" cy="110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4"/>
              </a:lnSpc>
              <a:spcBef>
                <a:spcPct val="0"/>
              </a:spcBef>
            </a:pPr>
            <a:r>
              <a:rPr lang="en-US" sz="63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YOUR ATTENTION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686638" y="4358188"/>
            <a:ext cx="8775079" cy="242913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  <p:sp>
        <p:nvSpPr>
          <p:cNvPr id="12" name="Freeform 12"/>
          <p:cNvSpPr/>
          <p:nvPr/>
        </p:nvSpPr>
        <p:spPr>
          <a:xfrm>
            <a:off x="6120595" y="1653629"/>
            <a:ext cx="1101806" cy="432454"/>
          </a:xfrm>
          <a:custGeom>
            <a:avLst/>
            <a:gdLst/>
            <a:ahLst/>
            <a:cxnLst/>
            <a:rect l="l" t="t" r="r" b="b"/>
            <a:pathLst>
              <a:path w="1101806" h="432454">
                <a:moveTo>
                  <a:pt x="0" y="0"/>
                </a:moveTo>
                <a:lnTo>
                  <a:pt x="1101806" y="0"/>
                </a:lnTo>
                <a:lnTo>
                  <a:pt x="1101806" y="432455"/>
                </a:lnTo>
                <a:lnTo>
                  <a:pt x="0" y="432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1085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4" name="Freeform 14"/>
          <p:cNvSpPr/>
          <p:nvPr/>
        </p:nvSpPr>
        <p:spPr>
          <a:xfrm>
            <a:off x="1028700" y="693254"/>
            <a:ext cx="2087218" cy="670892"/>
          </a:xfrm>
          <a:custGeom>
            <a:avLst/>
            <a:gdLst/>
            <a:ahLst/>
            <a:cxnLst/>
            <a:rect l="l" t="t" r="r" b="b"/>
            <a:pathLst>
              <a:path w="2087218" h="670892">
                <a:moveTo>
                  <a:pt x="0" y="0"/>
                </a:moveTo>
                <a:lnTo>
                  <a:pt x="2087218" y="0"/>
                </a:lnTo>
                <a:lnTo>
                  <a:pt x="2087218" y="670892"/>
                </a:lnTo>
                <a:lnTo>
                  <a:pt x="0" y="67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15" name="TextBox 15"/>
          <p:cNvSpPr txBox="1"/>
          <p:nvPr/>
        </p:nvSpPr>
        <p:spPr>
          <a:xfrm>
            <a:off x="7537549" y="-38100"/>
            <a:ext cx="321290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Official (Closed), Sensitive (Normal)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659546"/>
            <a:ext cx="2961117" cy="29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4"/>
              </a:lnSpc>
              <a:spcBef>
                <a:spcPct val="0"/>
              </a:spcBef>
            </a:pPr>
            <a:r>
              <a:rPr lang="en-US" sz="17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84960" y="8659546"/>
            <a:ext cx="2961117" cy="29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4"/>
              </a:lnSpc>
              <a:spcBef>
                <a:spcPct val="0"/>
              </a:spcBef>
            </a:pPr>
            <a:r>
              <a:rPr lang="en-US" sz="17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 Number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9063589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Goh Kun Ming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84960" y="9063589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P2415691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9416834"/>
            <a:ext cx="309491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 b="1" i="1">
                <a:solidFill>
                  <a:srgbClr val="BCC7D8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https://orcid.org/0009-0008-7666-781X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6079" y="9905181"/>
            <a:ext cx="2961117" cy="381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4"/>
              </a:lnSpc>
              <a:spcBef>
                <a:spcPct val="0"/>
              </a:spcBef>
            </a:pPr>
            <a:r>
              <a:rPr lang="en-US" sz="2217" b="1">
                <a:solidFill>
                  <a:srgbClr val="BCC7D8"/>
                </a:solidFill>
                <a:latin typeface="Inter Bold"/>
                <a:ea typeface="Inter Bold"/>
                <a:cs typeface="Inter Bold"/>
                <a:sym typeface="Inter Bold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1154</Words>
  <Application>Microsoft Office PowerPoint</Application>
  <PresentationFormat>Custom</PresentationFormat>
  <Paragraphs>219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Inter Bold Italics</vt:lpstr>
      <vt:lpstr>Arial</vt:lpstr>
      <vt:lpstr>Inter Italics</vt:lpstr>
      <vt:lpstr>Calibri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DOAA CA2</dc:title>
  <cp:lastModifiedBy>GOH KUN MING</cp:lastModifiedBy>
  <cp:revision>2</cp:revision>
  <dcterms:created xsi:type="dcterms:W3CDTF">2006-08-16T00:00:00Z</dcterms:created>
  <dcterms:modified xsi:type="dcterms:W3CDTF">2026-02-14T23:19:00Z</dcterms:modified>
  <dc:identifier>DAHBU35BbQA</dc:identifier>
</cp:coreProperties>
</file>